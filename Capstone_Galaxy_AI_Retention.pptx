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46" d="100"/>
          <a:sy n="46" d="100"/>
        </p:scale>
        <p:origin x="75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598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Galaxy AI leans on Google's Gemini; decisions about what data leaves the device carry regulatory and reputational risk, so governance must be a leadership responsibility from the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93508" y="2588865"/>
            <a:ext cx="15500985" cy="2420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7775"/>
              </a:lnSpc>
              <a:buNone/>
            </a:pPr>
            <a:r>
              <a:rPr lang="en-US" sz="8850" b="1" kern="0" spc="-88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Using </a:t>
            </a:r>
            <a:r>
              <a:rPr lang="en-US" sz="8850" b="1" kern="0" spc="-88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Galaxy AI </a:t>
            </a:r>
            <a:r>
              <a:rPr lang="en-US" sz="8850" b="1" kern="0" spc="-88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to Improve Customer Retention</a:t>
            </a:r>
            <a:endParaRPr lang="en-US" sz="8850" dirty="0"/>
          </a:p>
        </p:txBody>
      </p:sp>
      <p:sp>
        <p:nvSpPr>
          <p:cNvPr id="4" name="Text 2"/>
          <p:cNvSpPr/>
          <p:nvPr/>
        </p:nvSpPr>
        <p:spPr>
          <a:xfrm>
            <a:off x="1619250" y="5504966"/>
            <a:ext cx="15500985" cy="1014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lvl="1"/>
            <a:r>
              <a:rPr lang="en-US" sz="3150" dirty="0">
                <a:solidFill>
                  <a:srgbClr val="9A9DB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Samsung Mobile eXperience Division — Individual Analytics Transformation Capstone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619250" y="6938367"/>
            <a:ext cx="15049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619250" y="7328855"/>
            <a:ext cx="16554450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5F627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Mickhail Reeves | CS655: Managing with Analytics – From Data to AI | Professor Denise Brown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99951"/>
            <a:ext cx="1802130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24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</a:t>
            </a:r>
            <a:r>
              <a:rPr lang="en-US" sz="4800" b="1" kern="0" spc="24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OPPORTUNITY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1785751"/>
            <a:ext cx="18021300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Samsung leads in shipments. It trails in loyalty.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500" y="2783458"/>
            <a:ext cx="5206938" cy="6703591"/>
          </a:xfrm>
          <a:prstGeom prst="roundRect">
            <a:avLst>
              <a:gd name="adj" fmla="val 4390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88107" y="3119065"/>
            <a:ext cx="4535723" cy="285750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1A1030">
                  <a:alpha val="100000"/>
                </a:srgbClr>
              </a:gs>
              <a:gs pos="100000">
                <a:srgbClr val="08060F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12327" r="12327"/>
          <a:stretch/>
        </p:blipFill>
        <p:spPr>
          <a:xfrm>
            <a:off x="1288107" y="3119065"/>
            <a:ext cx="4535723" cy="2857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8107" y="6300267"/>
            <a:ext cx="4989295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#1 in Volume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288107" y="6974086"/>
            <a:ext cx="467179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Global smartphone shipments — Samsung continues to lead the market on sheer volume and distribution reach.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540438" y="2783458"/>
            <a:ext cx="5206938" cy="6703591"/>
          </a:xfrm>
          <a:prstGeom prst="roundRect">
            <a:avLst>
              <a:gd name="adj" fmla="val 4390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876045" y="3119065"/>
            <a:ext cx="4535723" cy="285750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1A1030">
                  <a:alpha val="100000"/>
                </a:srgbClr>
              </a:gs>
              <a:gs pos="100000">
                <a:srgbClr val="08060F">
                  <a:alpha val="100000"/>
                </a:srgbClr>
              </a:gs>
            </a:gsLst>
            <a:path path="circle">
              <a:fillToRect l="50000" t="45000" r="50000" b="55000"/>
            </a:path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2732" b="2732"/>
          <a:stretch/>
        </p:blipFill>
        <p:spPr>
          <a:xfrm>
            <a:off x="6876045" y="3119065"/>
            <a:ext cx="4535723" cy="2857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76045" y="6300267"/>
            <a:ext cx="4989295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Thin Margins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6876045" y="6974086"/>
            <a:ext cx="467179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Hardware margins significantly trail Apple's ecosystem-driven pricing power and service revenue streams.</a:t>
            </a:r>
            <a:endParaRPr lang="en-US" sz="2250" dirty="0"/>
          </a:p>
        </p:txBody>
      </p:sp>
      <p:sp>
        <p:nvSpPr>
          <p:cNvPr id="15" name="Shape 11"/>
          <p:cNvSpPr/>
          <p:nvPr/>
        </p:nvSpPr>
        <p:spPr>
          <a:xfrm>
            <a:off x="12128376" y="2783458"/>
            <a:ext cx="5207124" cy="6703591"/>
          </a:xfrm>
          <a:prstGeom prst="roundRect">
            <a:avLst>
              <a:gd name="adj" fmla="val 4390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2463983" y="3119065"/>
            <a:ext cx="4535909" cy="2857500"/>
          </a:xfrm>
          <a:prstGeom prst="roundRect">
            <a:avLst>
              <a:gd name="adj" fmla="val 5333"/>
            </a:avLst>
          </a:prstGeom>
          <a:gradFill rotWithShape="1">
            <a:gsLst>
              <a:gs pos="0">
                <a:srgbClr val="2A0F45">
                  <a:alpha val="100000"/>
                </a:srgbClr>
              </a:gs>
              <a:gs pos="100000">
                <a:srgbClr val="0D0A2E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5339" r="5339"/>
          <a:stretch/>
        </p:blipFill>
        <p:spPr>
          <a:xfrm>
            <a:off x="12463983" y="3119065"/>
            <a:ext cx="4535909" cy="28575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463983" y="6300267"/>
            <a:ext cx="4989500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High Churn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12463983" y="6974086"/>
            <a:ext cx="4671986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Premium buyers still switch to iPhone at upgrade. Now, Galaxy AI is moving past its free introductory period.</a:t>
            </a:r>
            <a:endParaRPr lang="en-US" sz="2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99951"/>
            <a:ext cx="1802130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24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WHY </a:t>
            </a:r>
            <a:r>
              <a:rPr lang="en-US" sz="4800" b="1" kern="0" spc="24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NOW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4244578"/>
            <a:ext cx="10582275" cy="190496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26"/>
              </a:lnSpc>
              <a:buNone/>
            </a:pPr>
            <a:r>
              <a:rPr lang="en-US" sz="14700" b="1" kern="0" spc="-294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60000">
                      <a:srgbClr val="4F7CF3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30% → 80%</a:t>
            </a:r>
            <a:endParaRPr lang="en-US" sz="14700" dirty="0"/>
          </a:p>
        </p:txBody>
      </p:sp>
      <p:sp>
        <p:nvSpPr>
          <p:cNvPr id="5" name="Text 3"/>
          <p:cNvSpPr/>
          <p:nvPr/>
        </p:nvSpPr>
        <p:spPr>
          <a:xfrm>
            <a:off x="952500" y="6339892"/>
            <a:ext cx="1058227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Galaxy AI brand awareness, in a single year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11334750" y="3048372"/>
            <a:ext cx="9525" cy="4928257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06238" y="3190317"/>
            <a:ext cx="4578095" cy="1830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229"/>
              </a:lnSpc>
              <a:buNone/>
            </a:pPr>
            <a:r>
              <a:rPr lang="en-US" sz="4200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Awareness surged. Retention hasn't caught up.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12106238" y="5325256"/>
            <a:ext cx="4578095" cy="25477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750"/>
              </a:lnSpc>
              <a:buNone/>
            </a:pPr>
            <a:r>
              <a:rPr lang="en-US" sz="25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window to convert curiosity into a norm closes as soon as the free introductory period ends  which is happening </a:t>
            </a:r>
            <a:r>
              <a:rPr lang="en-US" sz="2550" b="1" dirty="0">
                <a:solidFill>
                  <a:srgbClr val="C8CBD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now</a:t>
            </a:r>
            <a:r>
              <a:rPr lang="en-US" sz="25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99951"/>
            <a:ext cx="18021300" cy="696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9187"/>
              </a:lnSpc>
              <a:buNone/>
            </a:pPr>
            <a:r>
              <a:rPr lang="en-US" sz="4800" b="1" kern="0" spc="24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ANALYTICS </a:t>
            </a:r>
            <a:r>
              <a:rPr lang="en-US" sz="4800" b="1" kern="0" spc="24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APPROACH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1782031"/>
            <a:ext cx="180213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3300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Treat Galaxy AI features like </a:t>
            </a:r>
            <a:r>
              <a:rPr lang="en-US" sz="3300" b="1" dirty="0">
                <a:solidFill>
                  <a:srgbClr val="8B5CF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products</a:t>
            </a:r>
            <a:r>
              <a:rPr lang="en-US" sz="3300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, not marketing checkboxes.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52500" y="2877406"/>
            <a:ext cx="5206938" cy="6609643"/>
          </a:xfrm>
          <a:prstGeom prst="roundRect">
            <a:avLst>
              <a:gd name="adj" fmla="val 4390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83357" y="3346400"/>
            <a:ext cx="799951" cy="799951"/>
          </a:xfrm>
          <a:prstGeom prst="ellipse">
            <a:avLst/>
          </a:prstGeom>
          <a:solidFill>
            <a:srgbClr val="25C3E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3345" y="3546388"/>
            <a:ext cx="399976" cy="3999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3357" y="4527352"/>
            <a:ext cx="477974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Now Brief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383357" y="5234471"/>
            <a:ext cx="447558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Daily cross-app synthesis : the habit a customer would miss most on another phone.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540438" y="2877406"/>
            <a:ext cx="5206938" cy="6609643"/>
          </a:xfrm>
          <a:prstGeom prst="roundRect">
            <a:avLst>
              <a:gd name="adj" fmla="val 4390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71295" y="3346400"/>
            <a:ext cx="799951" cy="799951"/>
          </a:xfrm>
          <a:prstGeom prst="ellipse">
            <a:avLst/>
          </a:prstGeom>
          <a:solidFill>
            <a:srgbClr val="25C3E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1283" y="3546388"/>
            <a:ext cx="399976" cy="3999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71295" y="4527352"/>
            <a:ext cx="4475580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Multi-Agent AI Orchestration</a:t>
            </a:r>
            <a:endParaRPr lang="en-US" sz="2850" dirty="0"/>
          </a:p>
        </p:txBody>
      </p:sp>
      <p:sp>
        <p:nvSpPr>
          <p:cNvPr id="14" name="Text 10"/>
          <p:cNvSpPr/>
          <p:nvPr/>
        </p:nvSpPr>
        <p:spPr>
          <a:xfrm>
            <a:off x="6971295" y="5675002"/>
            <a:ext cx="447558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Continuity across phone, watch, and tablet , the hardest experience for Apple to replicate.</a:t>
            </a:r>
            <a:endParaRPr lang="en-US" sz="2250" dirty="0"/>
          </a:p>
        </p:txBody>
      </p:sp>
      <p:sp>
        <p:nvSpPr>
          <p:cNvPr id="15" name="Shape 11"/>
          <p:cNvSpPr/>
          <p:nvPr/>
        </p:nvSpPr>
        <p:spPr>
          <a:xfrm>
            <a:off x="12128376" y="2877406"/>
            <a:ext cx="5207124" cy="6609643"/>
          </a:xfrm>
          <a:prstGeom prst="roundRect">
            <a:avLst>
              <a:gd name="adj" fmla="val 4390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2559233" y="3346400"/>
            <a:ext cx="799951" cy="799951"/>
          </a:xfrm>
          <a:prstGeom prst="ellipse">
            <a:avLst/>
          </a:prstGeom>
          <a:solidFill>
            <a:srgbClr val="25C3E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59221" y="3546388"/>
            <a:ext cx="399976" cy="3999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559233" y="4527352"/>
            <a:ext cx="4475771" cy="919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Samsung Health AI Coaching</a:t>
            </a:r>
            <a:endParaRPr lang="en-US" sz="2850" dirty="0"/>
          </a:p>
        </p:txBody>
      </p:sp>
      <p:sp>
        <p:nvSpPr>
          <p:cNvPr id="19" name="Text 14"/>
          <p:cNvSpPr/>
          <p:nvPr/>
        </p:nvSpPr>
        <p:spPr>
          <a:xfrm>
            <a:off x="12559233" y="5675002"/>
            <a:ext cx="447577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Personalized health data compounding in value the longer a customer stays.</a:t>
            </a:r>
            <a:endParaRPr lang="en-US" sz="2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99951"/>
            <a:ext cx="1802130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24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APPLYING THE </a:t>
            </a:r>
            <a:r>
              <a:rPr lang="en-US" sz="4800" b="1" kern="0" spc="24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FRAMEWORK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1785751"/>
            <a:ext cx="18021300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Not every decision moves at the same speed.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990576" y="3391979"/>
            <a:ext cx="4953000" cy="4953000"/>
          </a:xfrm>
          <a:prstGeom prst="ellipse">
            <a:avLst/>
          </a:prstGeom>
          <a:gradFill rotWithShape="1">
            <a:gsLst>
              <a:gs pos="0">
                <a:srgbClr val="5A46BE">
                  <a:alpha val="35000"/>
                </a:srgbClr>
              </a:gs>
              <a:gs pos="100000">
                <a:srgbClr val="140E2C">
                  <a:alpha val="90000"/>
                </a:srgbClr>
              </a:gs>
            </a:gsLst>
            <a:path path="circle">
              <a:fillToRect l="50000" t="45000" r="50000" b="55000"/>
            </a:path>
          </a:gradFill>
          <a:ln/>
          <a:effectLst>
            <a:outerShdw blurRad="857250" dist="50800" dir="16200000" algn="bl" rotWithShape="0">
              <a:srgbClr val="5A3CB4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90576" y="3391979"/>
            <a:ext cx="4953000" cy="4953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 4"/>
          <p:cNvSpPr/>
          <p:nvPr/>
        </p:nvSpPr>
        <p:spPr>
          <a:xfrm>
            <a:off x="8743838" y="2970795"/>
            <a:ext cx="945082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5CF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MOVE NOW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8743838" y="3604059"/>
            <a:ext cx="945082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A9DB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Explicit data · low cost of error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8743838" y="4158816"/>
            <a:ext cx="8849411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b="1" dirty="0">
                <a:solidFill>
                  <a:srgbClr val="C8CBD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Feature-level engagement analytics: </a:t>
            </a: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Correlating specific features with retention and upgrade behavior. A wrong read costs a misallocated roadmap decision , which is highly recoverable.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8743838" y="5863642"/>
            <a:ext cx="945082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5C3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MOVE CAREFULLY</a:t>
            </a:r>
            <a:endParaRPr lang="en-US" sz="3300" dirty="0"/>
          </a:p>
        </p:txBody>
      </p:sp>
      <p:sp>
        <p:nvSpPr>
          <p:cNvPr id="11" name="Text 8"/>
          <p:cNvSpPr/>
          <p:nvPr/>
        </p:nvSpPr>
        <p:spPr>
          <a:xfrm>
            <a:off x="8743838" y="6496906"/>
            <a:ext cx="945082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9A9DB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Tacit judgment · high cost of error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8743838" y="7051663"/>
            <a:ext cx="8849411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b="1" dirty="0">
                <a:solidFill>
                  <a:srgbClr val="C8CBD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Data privacy &amp; routing: </a:t>
            </a: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personal data feeds Samsung's AI stack, and governance of the Gemini dependency (on-device vs. cloud). Regulatory and reputational stakes are massive  leadership owns this call.</a:t>
            </a:r>
            <a:endParaRPr lang="en-US" sz="2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99951"/>
            <a:ext cx="1802130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24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THE LEADERSHIP </a:t>
            </a:r>
            <a:r>
              <a:rPr lang="en-US" sz="4800" b="1" kern="0" spc="24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CHALLENGE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2795922"/>
            <a:ext cx="8447017" cy="1166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988"/>
              </a:lnSpc>
              <a:buNone/>
            </a:pPr>
            <a:r>
              <a:rPr lang="en-US" sz="3900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Governance can't be an engineering afterthought.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52500" y="4343735"/>
            <a:ext cx="3094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25C3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✦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414239" y="4343735"/>
            <a:ext cx="7971426" cy="952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871"/>
              </a:lnSpc>
              <a:buNone/>
            </a:pPr>
            <a:r>
              <a:rPr lang="en-US" sz="24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Samsung's Galaxy AI architecture depends heavily on Google's Gemini models for core generative functionality.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2500" y="5600774"/>
            <a:ext cx="3094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25C3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✦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414239" y="5600774"/>
            <a:ext cx="7971426" cy="952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871"/>
              </a:lnSpc>
              <a:buNone/>
            </a:pPr>
            <a:r>
              <a:rPr lang="en-US" sz="24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Decisions about what personal and usage data leaves the device to carry real regulatory and reputational risk.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6857814"/>
            <a:ext cx="3094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25C3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✦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414239" y="6857814"/>
            <a:ext cx="7971426" cy="1409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871"/>
              </a:lnSpc>
              <a:buNone/>
            </a:pPr>
            <a:r>
              <a:rPr lang="en-US" sz="24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That call belongs to leadership, not engineering , governance has to be a leadership responsibility from the start, not a review step at the end (Blackman, 2023).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915488" y="2845594"/>
            <a:ext cx="7420012" cy="5334000"/>
          </a:xfrm>
          <a:prstGeom prst="roundRect">
            <a:avLst>
              <a:gd name="adj" fmla="val 3571"/>
            </a:avLst>
          </a:prstGeom>
          <a:gradFill rotWithShape="1">
            <a:gsLst>
              <a:gs pos="0">
                <a:srgbClr val="0D1430">
                  <a:alpha val="100000"/>
                </a:srgbClr>
              </a:gs>
              <a:gs pos="100000">
                <a:srgbClr val="080A1C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6964" b="6964"/>
          <a:stretch/>
        </p:blipFill>
        <p:spPr>
          <a:xfrm>
            <a:off x="9915488" y="2107407"/>
            <a:ext cx="7420012" cy="68703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99951"/>
            <a:ext cx="1802130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24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EXECUTIVE </a:t>
            </a:r>
            <a:r>
              <a:rPr lang="en-US" sz="4800" b="1" kern="0" spc="24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RECOMMENDATION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1785751"/>
            <a:ext cx="18021300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Fund the features that hold retention — not just the ones that get downloaded.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500" y="2783458"/>
            <a:ext cx="5181637" cy="6703591"/>
          </a:xfrm>
          <a:prstGeom prst="roundRect">
            <a:avLst>
              <a:gd name="adj" fmla="val 4412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83357" y="3214315"/>
            <a:ext cx="47519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117"/>
              </a:lnSpc>
              <a:buNone/>
            </a:pPr>
            <a:r>
              <a:rPr lang="en-US" sz="6000" b="1" dirty="0">
                <a:solidFill>
                  <a:srgbClr val="8B5CF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383357" y="4223928"/>
            <a:ext cx="475191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Instrument Features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383357" y="4873935"/>
            <a:ext cx="444952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Instrument every Galaxy AI feature for retention correlation, looking beyond basic activation counts.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553088" y="2783458"/>
            <a:ext cx="5181637" cy="6703591"/>
          </a:xfrm>
          <a:prstGeom prst="roundRect">
            <a:avLst>
              <a:gd name="adj" fmla="val 4412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83946" y="3214315"/>
            <a:ext cx="47519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117"/>
              </a:lnSpc>
              <a:buNone/>
            </a:pPr>
            <a:r>
              <a:rPr lang="en-US" sz="6000" b="1" dirty="0">
                <a:solidFill>
                  <a:srgbClr val="8B5CF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983946" y="4223928"/>
            <a:ext cx="4751915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Elevate Review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83946" y="4873935"/>
            <a:ext cx="444952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Route feature-level analytics through the same strict review cadence as the P&amp;L quarterly, to leadership.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153677" y="2783458"/>
            <a:ext cx="5181823" cy="6703591"/>
          </a:xfrm>
          <a:prstGeom prst="roundRect">
            <a:avLst>
              <a:gd name="adj" fmla="val 4412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584534" y="3214315"/>
            <a:ext cx="475211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117"/>
              </a:lnSpc>
              <a:buNone/>
            </a:pPr>
            <a:r>
              <a:rPr lang="en-US" sz="6000" b="1" dirty="0">
                <a:solidFill>
                  <a:srgbClr val="8B5CF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03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2584534" y="4223928"/>
            <a:ext cx="4752119" cy="478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Assign Ownership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584534" y="4873935"/>
            <a:ext cx="4449712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38"/>
              </a:lnSpc>
              <a:buNone/>
            </a:pPr>
            <a:r>
              <a:rPr lang="en-US" sz="225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Assign explicit executive ownership of the on-device vs. cloud data governance decision before scaling further.</a:t>
            </a:r>
            <a:endParaRPr lang="en-US" sz="22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799951"/>
            <a:ext cx="18021300" cy="776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800" b="1" kern="0" spc="24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HOW WE'LL KNOW </a:t>
            </a:r>
            <a:r>
              <a:rPr lang="en-US" sz="4800" b="1" kern="0" spc="24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IT'S WORKING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1785751"/>
            <a:ext cx="18021300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Two numbers. Reported together, every quarter.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52500" y="2631095"/>
            <a:ext cx="8360978" cy="3237384"/>
          </a:xfrm>
          <a:prstGeom prst="roundRect">
            <a:avLst>
              <a:gd name="adj" fmla="val 7061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21495" y="3418768"/>
            <a:ext cx="8165288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8B5CF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Premium Device Retention Rate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421495" y="4166443"/>
            <a:ext cx="7645678" cy="952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871"/>
              </a:lnSpc>
              <a:buNone/>
            </a:pPr>
            <a:r>
              <a:rPr lang="en-US" sz="24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Measured at upgrade:  Do premium buyers stay in the Galaxy ecosystem or switch to iPhone.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52500" y="6249479"/>
            <a:ext cx="8360978" cy="3237570"/>
          </a:xfrm>
          <a:prstGeom prst="roundRect">
            <a:avLst>
              <a:gd name="adj" fmla="val 7061"/>
            </a:avLst>
          </a:prstGeom>
          <a:solidFill>
            <a:srgbClr val="FFFFFF">
              <a:alpha val="2000"/>
            </a:srgbClr>
          </a:solidFill>
          <a:ln w="11906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21495" y="7046454"/>
            <a:ext cx="8165288" cy="519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381"/>
              </a:lnSpc>
              <a:buNone/>
            </a:pPr>
            <a:r>
              <a:rPr lang="en-US" sz="3300" b="1" dirty="0">
                <a:solidFill>
                  <a:srgbClr val="25C3E8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Active Galaxy AI Feature Engagement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421495" y="7775897"/>
            <a:ext cx="7645678" cy="952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871"/>
              </a:lnSpc>
              <a:buNone/>
            </a:pPr>
            <a:r>
              <a:rPr lang="en-US" sz="2400" dirty="0">
                <a:solidFill>
                  <a:srgbClr val="8B8FA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Tied directly to churn analysis  not downloads, not activations. Actual, continued use.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770566" y="2631095"/>
            <a:ext cx="7564748" cy="6855954"/>
          </a:xfrm>
          <a:prstGeom prst="roundRect">
            <a:avLst>
              <a:gd name="adj" fmla="val 3334"/>
            </a:avLst>
          </a:prstGeom>
          <a:gradFill rotWithShape="1">
            <a:gsLst>
              <a:gs pos="0">
                <a:srgbClr val="151038">
                  <a:alpha val="100000"/>
                </a:srgbClr>
              </a:gs>
              <a:gs pos="100000">
                <a:srgbClr val="0A0A2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9941905" y="4368664"/>
            <a:ext cx="7222071" cy="33806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042B4">
                  <a:alpha val="22000"/>
                </a:srgbClr>
              </a:gs>
              <a:gs pos="55000">
                <a:srgbClr val="6042B4">
                  <a:alpha val="0"/>
                </a:srgbClr>
              </a:gs>
            </a:gsLst>
            <a:path path="circle">
              <a:fillToRect l="12000" r="88000" b="10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129891" y="3324634"/>
            <a:ext cx="14028031" cy="26779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6625"/>
              </a:lnSpc>
              <a:buNone/>
            </a:pPr>
            <a:r>
              <a:rPr lang="en-US" sz="9900" b="1" kern="0" spc="-99" dirty="0">
                <a:solidFill>
                  <a:srgbClr val="F4F5F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Retention isn't a feature. </a:t>
            </a:r>
            <a:r>
              <a:rPr lang="en-US" sz="9900" b="1" kern="0" spc="-99" dirty="0">
                <a:gradFill rotWithShape="1">
                  <a:gsLst>
                    <a:gs pos="0">
                      <a:srgbClr val="8B5CF6">
                        <a:alpha val="100000"/>
                      </a:srgbClr>
                    </a:gs>
                    <a:gs pos="55000">
                      <a:srgbClr val="5B7CF5">
                        <a:alpha val="100000"/>
                      </a:srgbClr>
                    </a:gs>
                    <a:gs pos="100000">
                      <a:srgbClr val="22C3E8">
                        <a:alpha val="100000"/>
                      </a:srgbClr>
                    </a:gs>
                  </a:gsLst>
                  <a:lin ang="600000" scaled="0"/>
                </a:gradFill>
                <a:latin typeface="Fredoka" pitchFamily="34" charset="0"/>
                <a:ea typeface="Fredoka" pitchFamily="34" charset="-122"/>
                <a:cs typeface="Fredoka" pitchFamily="34" charset="-120"/>
              </a:rPr>
              <a:t>It's a discipline.</a:t>
            </a:r>
            <a:endParaRPr lang="en-US" sz="9900" dirty="0"/>
          </a:p>
        </p:txBody>
      </p:sp>
      <p:sp>
        <p:nvSpPr>
          <p:cNvPr id="4" name="Text 2"/>
          <p:cNvSpPr/>
          <p:nvPr/>
        </p:nvSpPr>
        <p:spPr>
          <a:xfrm>
            <a:off x="6370960" y="6497836"/>
            <a:ext cx="6100688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9A9DB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Thank you , questions welcome.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576</Words>
  <Application>Microsoft Office PowerPoint</Application>
  <PresentationFormat>Custom</PresentationFormat>
  <Paragraphs>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Fredoka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Mickhail Reeves</cp:lastModifiedBy>
  <cp:revision>3</cp:revision>
  <dcterms:created xsi:type="dcterms:W3CDTF">2026-08-03T17:04:23Z</dcterms:created>
  <dcterms:modified xsi:type="dcterms:W3CDTF">2026-08-03T19:41:35Z</dcterms:modified>
</cp:coreProperties>
</file>